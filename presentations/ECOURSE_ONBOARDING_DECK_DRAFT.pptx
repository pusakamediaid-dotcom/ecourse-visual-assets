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34495" y="0"/>
            <a:ext cx="457200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5547207" y="1097280"/>
            <a:ext cx="1097280" cy="1097280"/>
          </a:xfrm>
          <a:prstGeom prst="diamond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350000">
            <a:off x="5700826" y="1250899"/>
            <a:ext cx="790041" cy="790041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601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Welcome to Your Learning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3601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1">
                <a:solidFill>
                  <a:srgbClr val="FEF3C7"/>
                </a:solidFill>
                <a:latin typeface="Calibri"/>
              </a:rPr>
              <a:t>E-Course Learning Workspace — Onboarding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FEF3C7"/>
                </a:solidFill>
                <a:latin typeface="Calibri"/>
              </a:rPr>
              <a:t>Draft prototype — menunggu materi dan konfirmasi klien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065F46"/>
                </a:solidFill>
                <a:latin typeface="Calibri"/>
              </a:rPr>
              <a:t>Apa Itu Workspace Ini?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0F766E"/>
                </a:solidFill>
                <a:latin typeface="Calibri"/>
              </a:rPr>
              <a:t>Satu tempat terpusat untuk seluruh perjalanan belajar Anda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1828800" cy="30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377440"/>
            <a:ext cx="640080" cy="640080"/>
          </a:xfrm>
          <a:prstGeom prst="ellipse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640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377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65F46"/>
                </a:solidFill>
                <a:latin typeface="Calibri"/>
              </a:rPr>
              <a:t>Satu tempat untuk belajar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43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64E3B"/>
                </a:solidFill>
                <a:latin typeface="Calibri"/>
              </a:rPr>
              <a:t>Semua modul, video, dan latihan ada dalam satu ruang yang tenang.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291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65F46"/>
                </a:solidFill>
                <a:latin typeface="Calibri"/>
              </a:rPr>
              <a:t>Akses modul dengan mudah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657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64E3B"/>
                </a:solidFill>
                <a:latin typeface="Calibri"/>
              </a:rPr>
              <a:t>Struktur konsisten memudahkan Anda berpindah antar modul tanpa bingung.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06240"/>
            <a:ext cx="640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206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65F46"/>
                </a:solidFill>
                <a:latin typeface="Calibri"/>
              </a:rPr>
              <a:t>Lihat progres Anda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572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64E3B"/>
                </a:solidFill>
                <a:latin typeface="Calibri"/>
              </a:rPr>
              <a:t>Checklist di setiap modul membantu Anda melacak apa yang sudah selesai.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20640"/>
            <a:ext cx="640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120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65F46"/>
                </a:solidFill>
                <a:latin typeface="Calibri"/>
              </a:rPr>
              <a:t>Buka materi pendukung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64E3B"/>
                </a:solidFill>
                <a:latin typeface="Calibri"/>
              </a:rPr>
              <a:t>Rekaman, kamus, dan file download tersedia dalam beberapa klik.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065F46"/>
                </a:solidFill>
                <a:latin typeface="Calibri"/>
              </a:rPr>
              <a:t>Cara Memulai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0F766E"/>
                </a:solidFill>
                <a:latin typeface="Calibri"/>
              </a:rPr>
              <a:t>Tiga langkah awal saat pertama kali masuk workspace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1828800" cy="30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743200"/>
            <a:ext cx="640080" cy="640080"/>
          </a:xfrm>
          <a:prstGeom prst="ellipse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640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743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65F46"/>
                </a:solidFill>
                <a:latin typeface="Calibri"/>
              </a:rP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108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64E3B"/>
                </a:solidFill>
                <a:latin typeface="Calibri"/>
              </a:rPr>
              <a:t>Titik awal setiap kali Anda masuk. Semua akses cepat ada di sini.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840480"/>
            <a:ext cx="640080" cy="640080"/>
          </a:xfrm>
          <a:prstGeom prst="ellipse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40480"/>
            <a:ext cx="640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840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65F46"/>
                </a:solidFill>
                <a:latin typeface="Calibri"/>
              </a:rPr>
              <a:t>Selamat Datang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206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64E3B"/>
                </a:solidFill>
                <a:latin typeface="Calibri"/>
              </a:rPr>
              <a:t>Baca sekali untuk memahami cara pakai workspace secara menyeluruh.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937760"/>
            <a:ext cx="640080" cy="640080"/>
          </a:xfrm>
          <a:prstGeom prst="ellipse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937760"/>
            <a:ext cx="640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937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65F46"/>
                </a:solidFill>
                <a:latin typeface="Calibri"/>
              </a:rPr>
              <a:t>Roadmap Belajar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303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64E3B"/>
                </a:solidFill>
                <a:latin typeface="Calibri"/>
              </a:rPr>
              <a:t>Lihat peta modul dan urutan pembelajaran yang disarankan.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065F46"/>
                </a:solidFill>
                <a:latin typeface="Calibri"/>
              </a:rPr>
              <a:t>Alur Pembelajaran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0F766E"/>
                </a:solidFill>
                <a:latin typeface="Calibri"/>
              </a:rPr>
              <a:t>Empat tahap yang membangun pemahaman Anda secara bertahap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1828800" cy="30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377440"/>
            <a:ext cx="640080" cy="640080"/>
          </a:xfrm>
          <a:prstGeom prst="ellipse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640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377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65F46"/>
                </a:solidFill>
                <a:latin typeface="Calibri"/>
              </a:rPr>
              <a:t>Modul 1–4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43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64E3B"/>
                </a:solidFill>
                <a:latin typeface="Calibri"/>
              </a:rPr>
              <a:t>Ikuti secara berurutan dari Modul 1 hingga Modul 4.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291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65F46"/>
                </a:solidFill>
                <a:latin typeface="Calibri"/>
              </a:rPr>
              <a:t>Latihan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657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64E3B"/>
                </a:solidFill>
                <a:latin typeface="Calibri"/>
              </a:rPr>
              <a:t>Kerjakan latihan di setiap modul untuk menerapkan konsep.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06240"/>
            <a:ext cx="640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206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65F46"/>
                </a:solidFill>
                <a:latin typeface="Calibri"/>
              </a:rPr>
              <a:t>Checklist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572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64E3B"/>
                </a:solidFill>
                <a:latin typeface="Calibri"/>
              </a:rPr>
              <a:t>Centang setiap langkah yang sudah Anda selesaikan.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20640"/>
            <a:ext cx="640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120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65F46"/>
                </a:solidFill>
                <a:latin typeface="Calibri"/>
              </a:rPr>
              <a:t>Kuis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64E3B"/>
                </a:solidFill>
                <a:latin typeface="Calibri"/>
              </a:rPr>
              <a:t>Uji pemahaman Anda setelah menyelesaikan modul.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065F46"/>
                </a:solidFill>
                <a:latin typeface="Calibri"/>
              </a:rPr>
              <a:t>Resource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0F766E"/>
                </a:solidFill>
                <a:latin typeface="Calibri"/>
              </a:rPr>
              <a:t>Materi pendukung yang bisa Anda akses kapan saja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1828800" cy="30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377440"/>
            <a:ext cx="640080" cy="640080"/>
          </a:xfrm>
          <a:prstGeom prst="ellipse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640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377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65F46"/>
                </a:solidFill>
                <a:latin typeface="Calibri"/>
              </a:rPr>
              <a:t>Rekaman Kelas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43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64E3B"/>
                </a:solidFill>
                <a:latin typeface="Calibri"/>
              </a:rPr>
              <a:t>Tonton ulang sesi live yang mungkin Anda lewatkan.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291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65F46"/>
                </a:solidFill>
                <a:latin typeface="Calibri"/>
              </a:rPr>
              <a:t>Kamus Kosakata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657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64E3B"/>
                </a:solidFill>
                <a:latin typeface="Calibri"/>
              </a:rPr>
              <a:t>Cari istilah penting yang muncul dalam materi.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06240"/>
            <a:ext cx="640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206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65F46"/>
                </a:solidFill>
                <a:latin typeface="Calibri"/>
              </a:rPr>
              <a:t>Download Materi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572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64E3B"/>
                </a:solidFill>
                <a:latin typeface="Calibri"/>
              </a:rPr>
              <a:t>Unduh file PDF, slide, dan bahan pendukung per modul.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20640"/>
            <a:ext cx="640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120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65F46"/>
                </a:solidFill>
                <a:latin typeface="Calibri"/>
              </a:rPr>
              <a:t>Pengumuman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64E3B"/>
                </a:solidFill>
                <a:latin typeface="Calibri"/>
              </a:rPr>
              <a:t>Informasi resmi terbaru dari admin dan pengajar.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065F46"/>
                </a:solidFill>
                <a:latin typeface="Calibri"/>
              </a:rPr>
              <a:t>Bantuan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0F766E"/>
                </a:solidFill>
                <a:latin typeface="Calibri"/>
              </a:rPr>
              <a:t>Kalau ada kendala, ada dua sumber bantuan cepat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1828800" cy="30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743200"/>
            <a:ext cx="640080" cy="640080"/>
          </a:xfrm>
          <a:prstGeom prst="ellipse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640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743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65F46"/>
                </a:solidFill>
                <a:latin typeface="Calibri"/>
              </a:rPr>
              <a:t>FAQ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108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64E3B"/>
                </a:solidFill>
                <a:latin typeface="Calibri"/>
              </a:rPr>
              <a:t>Cek dulu daftar pertanyaan yang sering ditanyakan. Sebagian besar kendala biasanya terjawab di sana.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114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65F46"/>
                </a:solidFill>
                <a:latin typeface="Calibri"/>
              </a:rPr>
              <a:t>Hubungi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480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64E3B"/>
                </a:solidFill>
                <a:latin typeface="Calibri"/>
              </a:rPr>
              <a:t>Tim admin siap membantu untuk kendala teknis, pertanyaan materi, atau masukan lain.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5455767" y="1371600"/>
            <a:ext cx="1280160" cy="1280160"/>
          </a:xfrm>
          <a:prstGeom prst="diamond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350000">
            <a:off x="5634989" y="1550822"/>
            <a:ext cx="921715" cy="92171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01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Selamat Belajar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01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1">
                <a:solidFill>
                  <a:srgbClr val="FEF3C7"/>
                </a:solidFill>
                <a:latin typeface="Calibri"/>
              </a:rPr>
              <a:t>Semoga prosesnya bermanfaat dan penuh keberkahan.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FEF3C7"/>
                </a:solidFill>
                <a:latin typeface="Calibri"/>
              </a:rPr>
              <a:t>Draft prototype — E-Course Learning Workspace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