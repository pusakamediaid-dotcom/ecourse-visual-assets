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1371600"/>
            <a:ext cx="2926080" cy="4114800"/>
          </a:xfrm>
          <a:prstGeom prst="rect">
            <a:avLst/>
          </a:prstGeom>
          <a:noFill/>
          <a:ln w="38100">
            <a:solidFill>
              <a:srgbClr val="F5B3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23774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301"/>
                </a:solidFill>
                <a:latin typeface="Calibri"/>
              </a:rPr>
              <a:t>E-COURSE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9260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301"/>
                </a:solidFill>
                <a:latin typeface="Calibri"/>
              </a:rPr>
              <a:t>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023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ONBOARDING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00" b="1" i="0">
                <a:solidFill>
                  <a:srgbClr val="F5B301"/>
                </a:solidFill>
                <a:latin typeface="Calibri"/>
              </a:rPr>
              <a:t>E-COURSE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F7F2E5"/>
                </a:solidFill>
                <a:latin typeface="Calibri"/>
              </a:rPr>
              <a:t>Panduan praktis untuk belajar, berlatih, dan memantau progres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A"/>
                </a:solidFill>
                <a:latin typeface="Calibri"/>
              </a:rPr>
              <a:t>Draft prototype — menunggu materi dan konfirmasi klien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E3D"/>
                </a:solidFill>
                <a:latin typeface="Calibri"/>
              </a:rPr>
              <a:t>APA ISI WORKSPACE INI?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C6B7A"/>
                </a:solidFill>
                <a:latin typeface="Calibri"/>
              </a:rPr>
              <a:t>Delapan bagian utama, dikelompokkan berdasarkan fungsi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645920" cy="3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E3D"/>
                </a:solidFill>
                <a:latin typeface="Calibri"/>
              </a:rPr>
              <a:t>PEMBELAJARAN INTI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26060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37160" cy="16002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A"/>
                </a:solidFill>
                <a:latin typeface="Calibri"/>
              </a:rPr>
              <a:t>Pusat navigasi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240280"/>
            <a:ext cx="26060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240280"/>
            <a:ext cx="137160" cy="16002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651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108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A"/>
                </a:solidFill>
                <a:latin typeface="Calibri"/>
              </a:rPr>
              <a:t>Peta modul &amp; progres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240280"/>
            <a:ext cx="26060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2240280"/>
            <a:ext cx="137160" cy="1600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651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Modul 1–4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08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A"/>
                </a:solidFill>
                <a:latin typeface="Calibri"/>
              </a:rPr>
              <a:t>Materi pembelajaran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2240280"/>
            <a:ext cx="26060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0" y="2240280"/>
            <a:ext cx="137160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651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Kuis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108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A"/>
                </a:solidFill>
                <a:latin typeface="Calibri"/>
              </a:rPr>
              <a:t>Uji pemahaman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E3D"/>
                </a:solidFill>
                <a:latin typeface="Calibri"/>
              </a:rPr>
              <a:t>MATERI PENDUKUNG &amp; BANTUAN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26280"/>
            <a:ext cx="26060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526280"/>
            <a:ext cx="137160" cy="1600200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937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Rekaman Kelas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94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A"/>
                </a:solidFill>
                <a:latin typeface="Calibri"/>
              </a:rPr>
              <a:t>Ulang sesi live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4526280"/>
            <a:ext cx="26060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4526280"/>
            <a:ext cx="137160" cy="1600200"/>
          </a:xfrm>
          <a:prstGeom prst="rect">
            <a:avLst/>
          </a:prstGeom>
          <a:solidFill>
            <a:srgbClr val="D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937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Kamus Kosakata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394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A"/>
                </a:solidFill>
                <a:latin typeface="Calibri"/>
              </a:rPr>
              <a:t>Istilah penting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526280"/>
            <a:ext cx="26060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4526280"/>
            <a:ext cx="137160" cy="16002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937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Download Materi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394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A"/>
                </a:solidFill>
                <a:latin typeface="Calibri"/>
              </a:rPr>
              <a:t>File pendukung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4526280"/>
            <a:ext cx="26060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86800" y="4526280"/>
            <a:ext cx="137160" cy="16002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4937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FAQ + Admin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394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A"/>
                </a:solidFill>
                <a:latin typeface="Calibri"/>
              </a:rPr>
              <a:t>Bantuan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E3D"/>
                </a:solidFill>
                <a:latin typeface="Calibri"/>
              </a:rPr>
              <a:t>ALUR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C6B7A"/>
                </a:solidFill>
                <a:latin typeface="Calibri"/>
              </a:rPr>
              <a:t>Urutan sekali-jalan sebelum mulai belajar rutin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645920" cy="3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6916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691640" cy="4572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Buka setiap kali masuk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.0" y="3200400.0"/>
            <a:ext cx="134051.0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74331" y="2286000"/>
            <a:ext cx="16916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4331" y="2286000"/>
            <a:ext cx="1691640" cy="4572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4331" y="23317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4331" y="29260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5771" y="347472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Lihat peta modul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1691.0" y="3200400.0"/>
            <a:ext cx="134051.0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91462" y="2286000"/>
            <a:ext cx="16916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1462" y="2286000"/>
            <a:ext cx="169164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1462" y="23317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1462" y="29260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Modul 1–4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2902" y="347472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Pelajari berurutan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28822.0" y="3200400.0"/>
            <a:ext cx="134051.0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08593" y="2286000"/>
            <a:ext cx="16916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8593" y="2286000"/>
            <a:ext cx="1691640" cy="457200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593" y="23317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593" y="29260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Latihan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033" y="347472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Praktik konsep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45953.0" y="3200400.0"/>
            <a:ext cx="134051.0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25724" y="2286000"/>
            <a:ext cx="16916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5724" y="2286000"/>
            <a:ext cx="169164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5724" y="23317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5724" y="29260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Checklist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7164" y="347472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Tandai progres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63084.0" y="3200400.0"/>
            <a:ext cx="134051.0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042855" y="2286000"/>
            <a:ext cx="16916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42855" y="2286000"/>
            <a:ext cx="1691640" cy="457200"/>
          </a:xfrm>
          <a:prstGeom prst="rect">
            <a:avLst/>
          </a:prstGeom>
          <a:solidFill>
            <a:srgbClr val="D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42855" y="23317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2855" y="29260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Kuis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34295" y="347472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Uji pemahaman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3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9A00"/>
                </a:solidFill>
                <a:latin typeface="Calibri"/>
              </a:rPr>
              <a:t>SATU-KALI SAJA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Alur ini dijalankan sekali di awal untuk memahami sistem. Setelahnya, setiap hari Anda cukup masuk Dashboard dan lanjut dari titik terakhir modul.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E3D"/>
                </a:solidFill>
                <a:latin typeface="Calibri"/>
              </a:rPr>
              <a:t>STRUKTUR SATU MODUL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C6B7A"/>
                </a:solidFill>
                <a:latin typeface="Calibri"/>
              </a:rPr>
              <a:t>Siklus 7 tahap yang diulang di setiap modul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645920" cy="3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5087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508760" cy="64008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Tujuan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7472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Baca 3 tujuan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84248.0" y="3291840.0"/>
            <a:ext cx="82753.16666666674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85289" y="2286000"/>
            <a:ext cx="15087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85289" y="2286000"/>
            <a:ext cx="1508760" cy="6400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5289" y="23957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5289" y="306324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Materi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1009" y="347472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Bagian utama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12337.166666667" y="3291840.0"/>
            <a:ext cx="82753.16666666651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713378" y="2286000"/>
            <a:ext cx="15087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3378" y="2286000"/>
            <a:ext cx="1508760" cy="6400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3378" y="23957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3378" y="306324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Video/File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9098" y="347472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Bahan pendukung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40426.333333334" y="3291840.0"/>
            <a:ext cx="82753.16666666698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41467" y="2286000"/>
            <a:ext cx="15087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41467" y="2286000"/>
            <a:ext cx="1508760" cy="640080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1467" y="23957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1467" y="306324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Praktik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87187" y="347472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Kerjakan latihan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68515.5" y="3291840.0"/>
            <a:ext cx="82753.16666666698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969556" y="2286000"/>
            <a:ext cx="15087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69556" y="2286000"/>
            <a:ext cx="150876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9556" y="23957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9556" y="306324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Catatan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5276" y="347472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Tulis poin kunci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96604.666666668" y="3291840.0"/>
            <a:ext cx="82753.16666666605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97645" y="2286000"/>
            <a:ext cx="15087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97645" y="2286000"/>
            <a:ext cx="1508760" cy="640080"/>
          </a:xfrm>
          <a:prstGeom prst="rect">
            <a:avLst/>
          </a:prstGeom>
          <a:solidFill>
            <a:srgbClr val="D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7645" y="23957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7645" y="306324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Refleksi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3365" y="347472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3 pertanyaan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124693.833333334" y="3291840.0"/>
            <a:ext cx="82753.16666666605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225735" y="2286000"/>
            <a:ext cx="15087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25735" y="2286000"/>
            <a:ext cx="1508760" cy="64008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25735" y="23957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25735" y="306324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Lanjut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71455" y="347472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Calibri"/>
              </a:rPr>
              <a:t>Modul berikutnya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0F1E3D"/>
          </a:solidFill>
          <a:ln>
            <a:solidFill>
              <a:srgbClr val="0F1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B301"/>
                </a:solidFill>
                <a:latin typeface="Calibri"/>
              </a:rPr>
              <a:t>PRINSIP INTI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Calibri"/>
              </a:rPr>
              <a:t>Jangan lompati tahapan. Setiap tahap membangun tahap berikutnya — materi tanpa praktik cepat lupa, praktik tanpa refleksi tidak berbuah.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E3D"/>
                </a:solidFill>
                <a:latin typeface="Calibri"/>
              </a:rPr>
              <a:t>RESOURCE CENTER — KAPAN DIPAKAI?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C6B7A"/>
                </a:solidFill>
                <a:latin typeface="Calibri"/>
              </a:rPr>
              <a:t>Empat bagian pendukung — gunakan sesuai kebutuhan, bukan otomatis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645920" cy="3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486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137160" cy="20116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F7A8C"/>
                </a:solidFill>
                <a:latin typeface="Calibri"/>
              </a:rPr>
              <a:t>REKAMAN KELAS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C6B7A"/>
                </a:solidFill>
                <a:latin typeface="Calibri"/>
              </a:rPr>
              <a:t>Kapan dipakai: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Ketika Anda melewatkan sesi live, atau ingin mengulang penjelasan yang kompleks.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486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137160" cy="201168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F8A5F"/>
                </a:solidFill>
                <a:latin typeface="Calibri"/>
              </a:rPr>
              <a:t>KAMUS KOSAKATA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88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C6B7A"/>
                </a:solidFill>
                <a:latin typeface="Calibri"/>
              </a:rPr>
              <a:t>Kapan dipakai: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1546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Ketika menemui istilah asing dalam materi yang tidak jelas maknanya.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5486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137160" cy="20116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B6CB0"/>
                </a:solidFill>
                <a:latin typeface="Calibri"/>
              </a:rPr>
              <a:t>DOWNLOAD MATERI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C6B7A"/>
                </a:solidFill>
                <a:latin typeface="Calibri"/>
              </a:rPr>
              <a:t>Kapan dipakai: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4924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Ketika butuh file PDF/PPT/DOCX untuk dipelajari offline atau dicetak.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06240"/>
            <a:ext cx="5486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206240"/>
            <a:ext cx="137160" cy="2011680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4348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26A2C"/>
                </a:solidFill>
                <a:latin typeface="Calibri"/>
              </a:rPr>
              <a:t>PENGUMUMAN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983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C6B7A"/>
                </a:solidFill>
                <a:latin typeface="Calibri"/>
              </a:rPr>
              <a:t>Kapan dipakai: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4924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Cek berkala — info resmi (jadwal, kebijakan, event) ada di sini.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E3D"/>
                </a:solidFill>
                <a:latin typeface="Calibri"/>
              </a:rPr>
              <a:t>PROGRESS DAN BANTUAN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C6B7A"/>
                </a:solidFill>
                <a:latin typeface="Calibri"/>
              </a:rPr>
              <a:t>Sistem penanda progres + dua jalur bantuan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645920" cy="3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48640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F1E3D"/>
                </a:solidFill>
                <a:latin typeface="Calibri"/>
              </a:rPr>
              <a:t>SISTEM PROGRES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43200"/>
            <a:ext cx="457200" cy="457200"/>
          </a:xfrm>
          <a:prstGeom prst="ellipse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SELESAI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A"/>
                </a:solidFill>
                <a:latin typeface="Calibri"/>
              </a:rPr>
              <a:t>Modul benar-benar tuntas.
Semua checklist sudah dicentang jujur.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977640"/>
            <a:ext cx="457200" cy="457200"/>
          </a:xfrm>
          <a:prstGeom prst="ellipse">
            <a:avLst/>
          </a:prstGeom>
          <a:solidFill>
            <a:srgbClr val="D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SEDANG BELAJAR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38912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A"/>
                </a:solidFill>
                <a:latin typeface="Calibri"/>
              </a:rPr>
              <a:t>Modul sedang dikerjakan.
Belum semua checklist tuntas.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212080"/>
            <a:ext cx="457200" cy="45720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212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BELUM MULAI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A"/>
                </a:solidFill>
                <a:latin typeface="Calibri"/>
              </a:rPr>
              <a:t>Modul belum disentuh.
Default status semua modul di awal.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011680"/>
            <a:ext cx="548640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945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F1E3D"/>
                </a:solidFill>
                <a:latin typeface="Calibri"/>
              </a:rPr>
              <a:t>JIKA MENGALAMI KENDALA</a:t>
            </a:r>
          </a:p>
        </p:txBody>
      </p:sp>
      <p:sp>
        <p:nvSpPr>
          <p:cNvPr id="21" name="Oval 20"/>
          <p:cNvSpPr/>
          <p:nvPr/>
        </p:nvSpPr>
        <p:spPr>
          <a:xfrm>
            <a:off x="6281928" y="2670048"/>
            <a:ext cx="512064" cy="512064"/>
          </a:xfrm>
          <a:prstGeom prst="ellipse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2670048"/>
            <a:ext cx="512064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8A5F"/>
                </a:solidFill>
                <a:latin typeface="Calibri"/>
              </a:rPr>
              <a:t>FAQ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20040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Cek terlebih dahulu — sebagian besar pertanyaan sudah terjawab di sana.
Halaman FAQ berisi 7+ pertanyaan yang sering muncul dari peserta.</a:t>
            </a:r>
          </a:p>
        </p:txBody>
      </p:sp>
      <p:sp>
        <p:nvSpPr>
          <p:cNvPr id="25" name="Oval 24"/>
          <p:cNvSpPr/>
          <p:nvPr/>
        </p:nvSpPr>
        <p:spPr>
          <a:xfrm>
            <a:off x="6281928" y="4270248"/>
            <a:ext cx="512064" cy="512064"/>
          </a:xfrm>
          <a:prstGeom prst="ellipse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4270248"/>
            <a:ext cx="512064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343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26A2C"/>
                </a:solidFill>
                <a:latin typeface="Calibri"/>
              </a:rPr>
              <a:t>HUBUNGI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80060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Jika FAQ belum menjawab — buka halaman Hubungi Admin.
Berisi format pesan yang disarankan agar respons admin lebih cepat.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1E3D"/>
                </a:solidFill>
                <a:latin typeface="Calibri"/>
              </a:rPr>
              <a:t>CHECKLIST MULAI BELAJAR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5C6B7A"/>
                </a:solidFill>
                <a:latin typeface="Calibri"/>
              </a:rPr>
              <a:t>Delapan langkah konkret untuk mulai hari 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645920" cy="3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4864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130552"/>
            <a:ext cx="320040" cy="320040"/>
          </a:xfrm>
          <a:prstGeom prst="roundRect">
            <a:avLst/>
          </a:prstGeom>
          <a:noFill/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Buka Dashboard sebagai titik awal.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4864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2130552"/>
            <a:ext cx="320040" cy="320040"/>
          </a:xfrm>
          <a:prstGeom prst="roundRect">
            <a:avLst/>
          </a:prstGeom>
          <a:noFill/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Baca halaman Selamat Datang sampai selesai.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97480"/>
            <a:ext cx="54864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816352"/>
            <a:ext cx="320040" cy="320040"/>
          </a:xfrm>
          <a:prstGeom prst="roundRect">
            <a:avLst/>
          </a:prstGeom>
          <a:noFill/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88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Lihat Roadmap untuk peta modul.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97480"/>
            <a:ext cx="54864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2816352"/>
            <a:ext cx="320040" cy="320040"/>
          </a:xfrm>
          <a:prstGeom prst="roundRect">
            <a:avLst/>
          </a:prstGeom>
          <a:noFill/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788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Mulai Modul 1, ikuti 7 tahap siklus modul.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83280"/>
            <a:ext cx="54864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502152"/>
            <a:ext cx="320040" cy="320040"/>
          </a:xfrm>
          <a:prstGeom prst="roundRect">
            <a:avLst/>
          </a:prstGeom>
          <a:noFill/>
          <a:ln w="25400">
            <a:solidFill>
              <a:srgbClr val="E2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4747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Tandai checklist penyelesaian dengan jujur.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383280"/>
            <a:ext cx="54864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3502152"/>
            <a:ext cx="320040" cy="320040"/>
          </a:xfrm>
          <a:prstGeom prst="roundRect">
            <a:avLst/>
          </a:prstGeom>
          <a:noFill/>
          <a:ln w="25400">
            <a:solidFill>
              <a:srgbClr val="D9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4747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Kerjakan latihan dan kuis setiap modul.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069080"/>
            <a:ext cx="54864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4187952"/>
            <a:ext cx="320040" cy="320040"/>
          </a:xfrm>
          <a:prstGeom prst="roundRect">
            <a:avLst/>
          </a:prstGeom>
          <a:noFill/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1605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Gunakan Rekaman Kelas jika ada yang belum jelas.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69080"/>
            <a:ext cx="54864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55080" y="4187952"/>
            <a:ext cx="320040" cy="320040"/>
          </a:xfrm>
          <a:prstGeom prst="roundRect">
            <a:avLst/>
          </a:prstGeom>
          <a:noFill/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1605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Hubungi admin jika mengalami kendala teknis.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0F1E3D"/>
          </a:solidFill>
          <a:ln>
            <a:solidFill>
              <a:srgbClr val="0F1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1">
                <a:solidFill>
                  <a:srgbClr val="F5B301"/>
                </a:solidFill>
                <a:latin typeface="Calibri"/>
              </a:rPr>
              <a:t>Selamat belajar — semoga prosesnya bermanfaat dan penuh keberkahan.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