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1371600"/>
            <a:ext cx="2926080" cy="4114800"/>
          </a:xfrm>
          <a:prstGeom prst="rect">
            <a:avLst/>
          </a:prstGeom>
          <a:noFill/>
          <a:ln w="38100">
            <a:solidFill>
              <a:srgbClr val="F5B3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23774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B301"/>
                </a:solidFill>
                <a:latin typeface="Calibri"/>
              </a:rPr>
              <a:t>E-COURSE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9718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B301"/>
                </a:solidFill>
                <a:latin typeface="Calibri"/>
              </a:rPr>
              <a:t>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0233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ONBOARDING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7589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7589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5B301"/>
                </a:solidFill>
                <a:latin typeface="Calibri"/>
              </a:rPr>
              <a:t>E-COURSE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F7F2E5"/>
                </a:solidFill>
                <a:latin typeface="Calibri"/>
              </a:rPr>
              <a:t>Panduan praktis untuk belajar, berlatih, dan memantau progres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C6B7A"/>
                </a:solidFill>
                <a:latin typeface="Calibri"/>
              </a:rPr>
              <a:t>Draft prototype — menunggu materi dan konfirmasi klien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E3D"/>
                </a:solidFill>
                <a:latin typeface="Calibri"/>
              </a:rPr>
              <a:t>APA ISI WORKSPACE INI?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5C6B7A"/>
                </a:solidFill>
                <a:latin typeface="Calibri"/>
              </a:rPr>
              <a:t>Delapan bagian utama, dikelompokkan menurut fungsi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E3D"/>
                </a:solidFill>
                <a:latin typeface="Calibri"/>
              </a:rPr>
              <a:t>PEMBELAJARAN INTI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37160" cy="18288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Pusat navigasi harian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42316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423160"/>
            <a:ext cx="137160" cy="18288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74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Peta modul &amp; progres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42316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2423160"/>
            <a:ext cx="137160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Modul 1–4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474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Materi pembelajaran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242316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0" y="2423160"/>
            <a:ext cx="13716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926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Kuis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474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Uji pemahaman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43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1E3D"/>
                </a:solidFill>
                <a:latin typeface="Calibri"/>
              </a:rPr>
              <a:t>MATERI PENDUKUNG &amp; BANTUAN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0060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37160" cy="182880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Rekaman Kelas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Ulang sesi live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80060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800600"/>
            <a:ext cx="137160" cy="1828800"/>
          </a:xfrm>
          <a:prstGeom prst="rect">
            <a:avLst/>
          </a:prstGeom>
          <a:solidFill>
            <a:srgbClr val="D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3035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Kamus Kosakata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8521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Istilah penting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0060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800600"/>
            <a:ext cx="137160" cy="18288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3035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Download Materi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8521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File pendukung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4800600"/>
            <a:ext cx="2606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0" y="4800600"/>
            <a:ext cx="137160" cy="18288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53035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FAQ + Admin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8521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Bantuan cepat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E3D"/>
                </a:solidFill>
                <a:latin typeface="Calibri"/>
              </a:rPr>
              <a:t>ALUR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5C6B7A"/>
                </a:solidFill>
                <a:latin typeface="Calibri"/>
              </a:rPr>
              <a:t>Urutan sekali-jalan sebelum belajar rutin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691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691640" cy="59436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C6B7A"/>
                </a:solidFill>
                <a:latin typeface="Calibri"/>
              </a:rPr>
              <a:t>Titik awal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.0" y="347472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74331" y="2377440"/>
            <a:ext cx="1691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4331" y="2377440"/>
            <a:ext cx="1691640" cy="5943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4331" y="2450592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4331" y="32918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5771" y="39776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C6B7A"/>
                </a:solidFill>
                <a:latin typeface="Calibri"/>
              </a:rPr>
              <a:t>Peta modul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1691.0" y="347472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91462" y="2377440"/>
            <a:ext cx="1691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1462" y="2377440"/>
            <a:ext cx="1691640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1462" y="2450592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1462" y="32918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Modul 1–4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2902" y="39776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C6B7A"/>
                </a:solidFill>
                <a:latin typeface="Calibri"/>
              </a:rPr>
              <a:t>Pelajari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28822.0" y="347472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08593" y="2377440"/>
            <a:ext cx="1691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8593" y="2377440"/>
            <a:ext cx="1691640" cy="59436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593" y="2450592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593" y="32918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Latihan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33" y="39776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C6B7A"/>
                </a:solidFill>
                <a:latin typeface="Calibri"/>
              </a:rPr>
              <a:t>Praktik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45953.0" y="347472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25724" y="2377440"/>
            <a:ext cx="1691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5724" y="2377440"/>
            <a:ext cx="169164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5724" y="2450592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5724" y="32918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7164" y="39776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C6B7A"/>
                </a:solidFill>
                <a:latin typeface="Calibri"/>
              </a:rPr>
              <a:t>Tandai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63084.0" y="3474720.0"/>
            <a:ext cx="134051.0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042855" y="2377440"/>
            <a:ext cx="1691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42855" y="2377440"/>
            <a:ext cx="1691640" cy="594360"/>
          </a:xfrm>
          <a:prstGeom prst="rect">
            <a:avLst/>
          </a:prstGeom>
          <a:solidFill>
            <a:srgbClr val="D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42855" y="2450592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2855" y="3291840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Kuis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34295" y="39776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5C6B7A"/>
                </a:solidFill>
                <a:latin typeface="Calibri"/>
              </a:rPr>
              <a:t>Uji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112471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3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9A00"/>
                </a:solidFill>
                <a:latin typeface="Calibri"/>
              </a:rPr>
              <a:t>SATU-KALI SAJA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Alur ini dijalankan sekali di awal. Setelahnya, cukup masuk Dashboard dan lanjut dari titik terakhir.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E3D"/>
                </a:solidFill>
                <a:latin typeface="Calibri"/>
              </a:rPr>
              <a:t>STRUKTUR SATU MODUL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5C6B7A"/>
                </a:solidFill>
                <a:latin typeface="Calibri"/>
              </a:rPr>
              <a:t>Siklus 7 tahap yang diulang di setiap modul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508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508760" cy="7772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Tujuan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84248.0" y="3520440.0"/>
            <a:ext cx="82753.16666666674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85289" y="2286000"/>
            <a:ext cx="1508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85289" y="2286000"/>
            <a:ext cx="1508760" cy="77724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5289" y="242316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5289" y="32918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Materi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12337.166666667" y="3520440.0"/>
            <a:ext cx="82753.16666666651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13378" y="2286000"/>
            <a:ext cx="1508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13378" y="2286000"/>
            <a:ext cx="1508760" cy="7772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3378" y="242316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3378" y="32918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Video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40426.333333334" y="3520440.0"/>
            <a:ext cx="82753.16666666698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41467" y="2286000"/>
            <a:ext cx="1508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1467" y="2286000"/>
            <a:ext cx="1508760" cy="77724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1467" y="242316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1467" y="32918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Praktik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68515.5" y="3520440.0"/>
            <a:ext cx="82753.16666666698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69556" y="2286000"/>
            <a:ext cx="1508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9556" y="2286000"/>
            <a:ext cx="150876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9556" y="242316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9556" y="32918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Catatan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96604.666666668" y="3520440.0"/>
            <a:ext cx="82753.16666666605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97645" y="2286000"/>
            <a:ext cx="1508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97645" y="2286000"/>
            <a:ext cx="1508760" cy="777240"/>
          </a:xfrm>
          <a:prstGeom prst="rect">
            <a:avLst/>
          </a:prstGeom>
          <a:solidFill>
            <a:srgbClr val="D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7645" y="242316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7645" y="32918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Refleksi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124693.833333334" y="3520440.0"/>
            <a:ext cx="82753.16666666605" cy="0.0"/>
          </a:xfrm>
          <a:prstGeom prst="line">
            <a:avLst/>
          </a:prstGeom>
          <a:ln w="38100">
            <a:solidFill>
              <a:srgbClr val="0F1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225735" y="2286000"/>
            <a:ext cx="1508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25735" y="2286000"/>
            <a:ext cx="1508760" cy="7772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25735" y="242316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5735" y="32918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  <a:latin typeface="Calibri"/>
              </a:rPr>
              <a:t>Lanjut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074920"/>
            <a:ext cx="11247120" cy="1371600"/>
          </a:xfrm>
          <a:prstGeom prst="roundRect">
            <a:avLst/>
          </a:prstGeom>
          <a:solidFill>
            <a:srgbClr val="0F1E3D"/>
          </a:solidFill>
          <a:ln>
            <a:solidFill>
              <a:srgbClr val="0F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B301"/>
                </a:solidFill>
                <a:latin typeface="Calibri"/>
              </a:rPr>
              <a:t>PRINSIP INTI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alibri"/>
              </a:rPr>
              <a:t>Jangan lompati tahapan — setiap tahap membangun tahap berikutnya.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E3D"/>
                </a:solidFill>
                <a:latin typeface="Calibri"/>
              </a:rPr>
              <a:t>RESOURCE CENTER — KAPAN DIPAKAI?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5C6B7A"/>
                </a:solidFill>
                <a:latin typeface="Calibri"/>
              </a:rPr>
              <a:t>Empat bagian pendukung, gunakan sesuai kebutuhan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37160" cy="219456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F7A8C"/>
                </a:solidFill>
                <a:latin typeface="Calibri"/>
              </a:rPr>
              <a:t>REKAMAN KELAS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5C6B7A"/>
                </a:solidFill>
                <a:latin typeface="Calibri"/>
              </a:rPr>
              <a:t>Kapan dipakai: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Saat melewatkan sesi live atau butuh mengulang penjelasan.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965960"/>
            <a:ext cx="137160" cy="219456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F8A5F"/>
                </a:solidFill>
                <a:latin typeface="Calibri"/>
              </a:rPr>
              <a:t>KAMUS KOSAKATA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5C6B7A"/>
                </a:solidFill>
                <a:latin typeface="Calibri"/>
              </a:rPr>
              <a:t>Kapan dipakai: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918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Saat menemui istilah asing dalam materi.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137160" cy="21945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B6CB0"/>
                </a:solidFill>
                <a:latin typeface="Calibri"/>
              </a:rPr>
              <a:t>DOWNLOAD MATERI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5C6B7A"/>
                </a:solidFill>
                <a:latin typeface="Calibri"/>
              </a:rPr>
              <a:t>Kapan dipakai: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Saat butuh file PDF/PPT untuk offline atau dicetak.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34340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343400"/>
            <a:ext cx="137160" cy="219456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617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26A2C"/>
                </a:solidFill>
                <a:latin typeface="Calibri"/>
              </a:rPr>
              <a:t>PENGUMUMAN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2120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5C6B7A"/>
                </a:solidFill>
                <a:latin typeface="Calibri"/>
              </a:rPr>
              <a:t>Kapan dipakai: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6692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Cek berkala untuk info resmi dari admin.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E3D"/>
                </a:solidFill>
                <a:latin typeface="Calibri"/>
              </a:rPr>
              <a:t>PROGRESS DAN BANTUAN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5C6B7A"/>
                </a:solidFill>
                <a:latin typeface="Calibri"/>
              </a:rPr>
              <a:t>Sistem penanda progres + dua jalur bantuan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4864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E3D"/>
                </a:solidFill>
                <a:latin typeface="Calibri"/>
              </a:rPr>
              <a:t>SISTEM PROGRES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834640"/>
            <a:ext cx="502920" cy="502920"/>
          </a:xfrm>
          <a:prstGeom prst="ellipse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7432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SELESAI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Modul tuntas, checklist penuh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114800"/>
            <a:ext cx="502920" cy="502920"/>
          </a:xfrm>
          <a:prstGeom prst="ellipse">
            <a:avLst/>
          </a:prstGeom>
          <a:solidFill>
            <a:srgbClr val="D9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0233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SEDANG BELAJAR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Sedang dikerjakan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394960"/>
            <a:ext cx="502920" cy="502920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3035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BELUM MULAI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85216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5C6B7A"/>
                </a:solidFill>
                <a:latin typeface="Calibri"/>
              </a:rPr>
              <a:t>Modul belum disentuh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965960"/>
            <a:ext cx="54864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1031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E3D"/>
                </a:solidFill>
                <a:latin typeface="Calibri"/>
              </a:rPr>
              <a:t>JIKA ADA KENDALA</a:t>
            </a:r>
          </a:p>
        </p:txBody>
      </p:sp>
      <p:sp>
        <p:nvSpPr>
          <p:cNvPr id="21" name="Oval 20"/>
          <p:cNvSpPr/>
          <p:nvPr/>
        </p:nvSpPr>
        <p:spPr>
          <a:xfrm>
            <a:off x="6291072" y="2770632"/>
            <a:ext cx="585216" cy="585216"/>
          </a:xfrm>
          <a:prstGeom prst="ellipse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770632"/>
            <a:ext cx="585216" cy="585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834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F8A5F"/>
                </a:solidFill>
                <a:latin typeface="Calibri"/>
              </a:rPr>
              <a:t>FAQ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38328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Cek dulu — sebagian besar pertanyaan sudah terjawab di sana.</a:t>
            </a:r>
          </a:p>
        </p:txBody>
      </p:sp>
      <p:sp>
        <p:nvSpPr>
          <p:cNvPr id="25" name="Oval 24"/>
          <p:cNvSpPr/>
          <p:nvPr/>
        </p:nvSpPr>
        <p:spPr>
          <a:xfrm>
            <a:off x="6291072" y="4462272"/>
            <a:ext cx="585216" cy="585216"/>
          </a:xfrm>
          <a:prstGeom prst="ellipse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62272"/>
            <a:ext cx="585216" cy="585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526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26A2C"/>
                </a:solidFill>
                <a:latin typeface="Calibri"/>
              </a:rPr>
              <a:t>HUBUNGI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07492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Kalau FAQ belum menjawab — buka halaman Hubungi 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F1E3D"/>
                </a:solidFill>
                <a:latin typeface="Calibri"/>
              </a:rPr>
              <a:t>CHECKLIST MULAI BELAJAR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5C6B7A"/>
                </a:solidFill>
                <a:latin typeface="Calibri"/>
              </a:rPr>
              <a:t>Delapan langkah konkret untuk mulai hari 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645920" cy="30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365760" cy="365760"/>
          </a:xfrm>
          <a:prstGeom prst="roundRect">
            <a:avLst/>
          </a:prstGeom>
          <a:noFill/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7568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Buka Dashboard sebagai titik awal.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2103120"/>
            <a:ext cx="365760" cy="365760"/>
          </a:xfrm>
          <a:prstGeom prst="roundRect">
            <a:avLst/>
          </a:prstGeom>
          <a:noFill/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07568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Baca halaman Selamat Datang.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8892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926080"/>
            <a:ext cx="365760" cy="365760"/>
          </a:xfrm>
          <a:prstGeom prst="roundRect">
            <a:avLst/>
          </a:prstGeom>
          <a:noFill/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9864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Lihat Roadmap untuk peta modul.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8892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2926080"/>
            <a:ext cx="365760" cy="365760"/>
          </a:xfrm>
          <a:prstGeom prst="roundRect">
            <a:avLst/>
          </a:prstGeo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89864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Mulai Modul 1, ikuti siklus 7 tahap.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49040"/>
            <a:ext cx="365760" cy="365760"/>
          </a:xfrm>
          <a:prstGeom prst="roundRect">
            <a:avLst/>
          </a:prstGeom>
          <a:noFill/>
          <a:ln w="25400">
            <a:solidFill>
              <a:srgbClr val="E26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72160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Tandai checklist dengan jujur.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1188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3749040"/>
            <a:ext cx="365760" cy="365760"/>
          </a:xfrm>
          <a:prstGeom prst="roundRect">
            <a:avLst/>
          </a:prstGeom>
          <a:noFill/>
          <a:ln w="25400">
            <a:solidFill>
              <a:srgbClr val="D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72160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Kerjakan latihan dan kuis setiap modul.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3484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4572000"/>
            <a:ext cx="365760" cy="365760"/>
          </a:xfrm>
          <a:prstGeom prst="roundRect">
            <a:avLst/>
          </a:prstGeom>
          <a:noFill/>
          <a:ln w="25400">
            <a:solidFill>
              <a:srgbClr val="1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54456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Pakai Rekaman Kelas jika perlu review.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434840"/>
            <a:ext cx="5486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4572000"/>
            <a:ext cx="365760" cy="365760"/>
          </a:xfrm>
          <a:prstGeom prst="roundRect">
            <a:avLst/>
          </a:prstGeom>
          <a:noFill/>
          <a:ln w="25400">
            <a:solidFill>
              <a:srgbClr val="1F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54456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Hubungi admin bila ada kendala teknis.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623560"/>
            <a:ext cx="11247120" cy="960120"/>
          </a:xfrm>
          <a:prstGeom prst="roundRect">
            <a:avLst/>
          </a:prstGeom>
          <a:solidFill>
            <a:srgbClr val="0F1E3D"/>
          </a:solidFill>
          <a:ln>
            <a:solidFill>
              <a:srgbClr val="0F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76072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1">
                <a:solidFill>
                  <a:srgbClr val="F5B301"/>
                </a:solidFill>
                <a:latin typeface="Calibri"/>
              </a:rPr>
              <a:t>Selamat belajar — semoga bermanfaat dan penuh keberkahan.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